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1" r:id="rId13"/>
    <p:sldId id="272" r:id="rId14"/>
    <p:sldId id="273" r:id="rId15"/>
    <p:sldId id="274"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 </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360002" y="5659922"/>
            <a:ext cx="15784162" cy="1323439"/>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Design and develop a React JS based web application for Ticket Booking of an Internal Department Event </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V.Rambabu</a:t>
            </a:r>
            <a:r>
              <a:rPr lang="en-US" sz="3000" dirty="0">
                <a:latin typeface="Cambria" panose="02040503050406030204" pitchFamily="18" charset="0"/>
                <a:ea typeface="Cambria" panose="02040503050406030204" pitchFamily="18" charset="0"/>
              </a:rPr>
              <a:t>– VTU25536 – 23UECS1236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61527"/>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2800" dirty="0"/>
              <a:t>Dr. Hafizur Rahman, Assistant Professor</a:t>
            </a:r>
            <a:endParaRPr lang="en-US" sz="2800" b="1"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a:t>
            </a:r>
            <a:r>
              <a:rPr lang="en-IN" b="1" dirty="0"/>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408754" y="2324100"/>
            <a:ext cx="17254972" cy="634685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Rectangle 2">
            <a:extLst>
              <a:ext uri="{FF2B5EF4-FFF2-40B4-BE49-F238E27FC236}">
                <a16:creationId xmlns:a16="http://schemas.microsoft.com/office/drawing/2014/main" id="{7C358987-3C8D-C0C9-32FC-BC34A5E28BB4}"/>
              </a:ext>
            </a:extLst>
          </p:cNvPr>
          <p:cNvSpPr>
            <a:spLocks noChangeArrowheads="1"/>
          </p:cNvSpPr>
          <p:nvPr/>
        </p:nvSpPr>
        <p:spPr bwMode="auto">
          <a:xfrm rot="10800000" flipV="1">
            <a:off x="2415504" y="1622869"/>
            <a:ext cx="13753183"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14350" lvl="0" indent="-51435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rapid growth of digital technologies has transformed the way events are organized and managed.</a:t>
            </a:r>
          </a:p>
          <a:p>
            <a:pPr marL="514350" lvl="0" indent="-51435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Traditional ticket booking methods for internal department events—such as technical fests, seminars, and workshops—often involve manual registration, which can lead to inefficiencies like data errors, overbooking, and lack of real-time updates.</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514350" lvl="0" indent="-51435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address these challenges, a web-based ticket booking system using </a:t>
            </a:r>
            <a:r>
              <a:rPr lang="en-US" sz="3200" b="1" dirty="0">
                <a:latin typeface="Times New Roman" panose="02020603050405020304" pitchFamily="18" charset="0"/>
                <a:cs typeface="Times New Roman" panose="02020603050405020304" pitchFamily="18" charset="0"/>
              </a:rPr>
              <a:t>React JS</a:t>
            </a:r>
            <a:r>
              <a:rPr lang="en-US" sz="3200" dirty="0">
                <a:latin typeface="Times New Roman" panose="02020603050405020304" pitchFamily="18" charset="0"/>
                <a:cs typeface="Times New Roman" panose="02020603050405020304" pitchFamily="18" charset="0"/>
              </a:rPr>
              <a:t> is proposed. </a:t>
            </a:r>
          </a:p>
          <a:p>
            <a:pPr marL="514350" lvl="0" indent="-51435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application provides an interactive and user-friendly platform where students and faculty can easily view event details and book tickets online.</a:t>
            </a:r>
          </a:p>
          <a:p>
            <a:pPr marL="514350" lvl="0" indent="-51435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By leveraging modern frontend technologies, the system ensures efficient ticket management, real-time updates, and improved user experience. </a:t>
            </a:r>
          </a:p>
          <a:p>
            <a:pPr marL="514350" lvl="0" indent="-514350" eaLnBrk="0" fontAlgn="base" hangingPunct="0">
              <a:spcBef>
                <a:spcPct val="0"/>
              </a:spcBef>
              <a:spcAft>
                <a:spcPct val="0"/>
              </a:spcAft>
              <a:buFont typeface="Arial" panose="020B0604020202020204" pitchFamily="34" charset="0"/>
              <a:buChar char="•"/>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6526" y="2671373"/>
            <a:ext cx="15082325" cy="6124754"/>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4051CBAE-A7E2-4803-E9EC-D59D8D663F82}"/>
              </a:ext>
            </a:extLst>
          </p:cNvPr>
          <p:cNvSpPr>
            <a:spLocks noChangeArrowheads="1"/>
          </p:cNvSpPr>
          <p:nvPr/>
        </p:nvSpPr>
        <p:spPr bwMode="auto">
          <a:xfrm rot="10800000" flipV="1">
            <a:off x="1977928" y="1375947"/>
            <a:ext cx="1608147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3600" dirty="0">
                <a:latin typeface="Times New Roman" panose="02020603050405020304" pitchFamily="18" charset="0"/>
                <a:cs typeface="Times New Roman" panose="02020603050405020304" pitchFamily="18" charset="0"/>
              </a:rPr>
              <a:t>Manual or semi-digital ticket booking systems used for internal department events face several limitations:</a:t>
            </a:r>
          </a:p>
          <a:p>
            <a:pPr lvl="0" eaLnBrk="0" fontAlgn="base" hangingPunct="0">
              <a:spcBef>
                <a:spcPct val="0"/>
              </a:spcBef>
              <a:spcAft>
                <a:spcPct val="0"/>
              </a:spcAft>
            </a:pPr>
            <a:endParaRPr lang="en-US" sz="3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Lack of real-time tracking of available tickets </a:t>
            </a: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Possibility of overbooking due to manual errors </a:t>
            </a: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Inefficient data handling and record maintenance </a:t>
            </a: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Poor user experience due to non-interactive interfaces </a:t>
            </a: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Difficulty in validating user inputs (e.g., email format, ticket count) </a:t>
            </a:r>
          </a:p>
          <a:p>
            <a:pPr lvl="0"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Time-consuming booking and confirmation process </a:t>
            </a:r>
          </a:p>
          <a:p>
            <a:pPr marL="457200" lvl="0" indent="-457200" eaLnBrk="0" fontAlgn="base" hangingPunct="0">
              <a:spcBef>
                <a:spcPct val="0"/>
              </a:spcBef>
              <a:spcAft>
                <a:spcPct val="0"/>
              </a:spcAft>
              <a:buFont typeface="Arial" panose="020B0604020202020204" pitchFamily="34" charset="0"/>
              <a:buChar char="•"/>
            </a:pPr>
            <a:endParaRPr lang="en-US" sz="3200" dirty="0">
              <a:latin typeface="Arial" panose="020B0604020202020204" pitchFamily="34" charset="0"/>
            </a:endParaRPr>
          </a:p>
          <a:p>
            <a:pPr marL="457200" lvl="0" indent="-457200" eaLnBrk="0" fontAlgn="base" hangingPunct="0">
              <a:spcBef>
                <a:spcPct val="0"/>
              </a:spcBef>
              <a:spcAft>
                <a:spcPct val="0"/>
              </a:spcAft>
              <a:buFont typeface="Arial" panose="020B0604020202020204" pitchFamily="34" charset="0"/>
              <a:buChar char="•"/>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76975" y="1141366"/>
            <a:ext cx="15082325" cy="3539430"/>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a:extLst>
              <a:ext uri="{FF2B5EF4-FFF2-40B4-BE49-F238E27FC236}">
                <a16:creationId xmlns:a16="http://schemas.microsoft.com/office/drawing/2014/main" id="{1B23BECA-43D8-B716-FBE2-6BA6659498B5}"/>
              </a:ext>
            </a:extLst>
          </p:cNvPr>
          <p:cNvSpPr>
            <a:spLocks noChangeArrowheads="1"/>
          </p:cNvSpPr>
          <p:nvPr/>
        </p:nvSpPr>
        <p:spPr bwMode="auto">
          <a:xfrm rot="10800000" flipV="1">
            <a:off x="2703455" y="1730287"/>
            <a:ext cx="12881090" cy="812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sz="3600" dirty="0">
                <a:latin typeface="Times New Roman" panose="02020603050405020304" pitchFamily="18" charset="0"/>
                <a:cs typeface="Times New Roman" panose="02020603050405020304" pitchFamily="18" charset="0"/>
              </a:rPr>
              <a:t>The main objectives of this project are:</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develop a </a:t>
            </a:r>
            <a:r>
              <a:rPr lang="en-US" sz="3600" b="1" dirty="0">
                <a:latin typeface="Times New Roman" panose="02020603050405020304" pitchFamily="18" charset="0"/>
                <a:cs typeface="Times New Roman" panose="02020603050405020304" pitchFamily="18" charset="0"/>
              </a:rPr>
              <a:t>React JS-based web application</a:t>
            </a:r>
            <a:r>
              <a:rPr lang="en-US" sz="3600" dirty="0">
                <a:latin typeface="Times New Roman" panose="02020603050405020304" pitchFamily="18" charset="0"/>
                <a:cs typeface="Times New Roman" panose="02020603050405020304" pitchFamily="18" charset="0"/>
              </a:rPr>
              <a:t> for internal event ticket booking.</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display complete event details such as name, department, date, time, venue, ticket price, and availability.</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allow users to book tickets by entering required details.</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implement input validation for accurate and secure data entry.</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prevent overbooking by restricting ticket count based on availability.</a:t>
            </a:r>
          </a:p>
          <a:p>
            <a:pPr marL="342900" lvl="0" indent="-342900" eaLnBrk="0" fontAlgn="base" hangingPunct="0">
              <a:spcBef>
                <a:spcPct val="0"/>
              </a:spcBef>
              <a:spcAft>
                <a:spcPct val="0"/>
              </a:spcAf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dynamically update the available number of tickets after each booking.</a:t>
            </a:r>
          </a:p>
          <a:p>
            <a:pPr marL="342900" lvl="0" indent="-342900" eaLnBrk="0" fontAlgn="base" hangingPunct="0">
              <a:spcBef>
                <a:spcPct val="0"/>
              </a:spcBef>
              <a:spcAft>
                <a:spcPct val="0"/>
              </a:spcAft>
              <a:buFont typeface="Arial" panose="020B0604020202020204" pitchFamily="34" charset="0"/>
              <a:buChar char="•"/>
            </a:pPr>
            <a:endParaRPr lang="en-US" sz="3600" dirty="0"/>
          </a:p>
          <a:p>
            <a:pPr marL="342900" lvl="0" indent="-342900" eaLnBrk="0" fontAlgn="base" hangingPunct="0">
              <a:spcBef>
                <a:spcPct val="0"/>
              </a:spcBef>
              <a:spcAft>
                <a:spcPct val="0"/>
              </a:spcAft>
              <a:buFont typeface="Arial" panose="020B0604020202020204" pitchFamily="34" charset="0"/>
              <a:buChar char="•"/>
            </a:pPr>
            <a:endParaRPr lang="en-US" sz="3600" dirty="0"/>
          </a:p>
          <a:p>
            <a:pPr marL="342900" lvl="0" indent="-342900" eaLnBrk="0" fontAlgn="base" hangingPunct="0">
              <a:spcBef>
                <a:spcPct val="0"/>
              </a:spcBef>
              <a:spcAft>
                <a:spcPct val="0"/>
              </a:spcAf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DA009C86-E745-4A9A-F682-CECAEFA1A940}"/>
              </a:ext>
            </a:extLst>
          </p:cNvPr>
          <p:cNvSpPr>
            <a:spLocks noChangeArrowheads="1"/>
          </p:cNvSpPr>
          <p:nvPr/>
        </p:nvSpPr>
        <p:spPr bwMode="auto">
          <a:xfrm rot="10800000" flipV="1">
            <a:off x="2238375" y="1458235"/>
            <a:ext cx="14615392" cy="677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proposed system is a </a:t>
            </a:r>
            <a:r>
              <a:rPr lang="en-US" sz="3200" b="1" dirty="0">
                <a:latin typeface="Times New Roman" panose="02020603050405020304" pitchFamily="18" charset="0"/>
                <a:cs typeface="Times New Roman" panose="02020603050405020304" pitchFamily="18" charset="0"/>
              </a:rPr>
              <a:t>React-based web application</a:t>
            </a:r>
            <a:r>
              <a:rPr lang="en-US" sz="3200" dirty="0">
                <a:latin typeface="Times New Roman" panose="02020603050405020304" pitchFamily="18" charset="0"/>
                <a:cs typeface="Times New Roman" panose="02020603050405020304" pitchFamily="18" charset="0"/>
              </a:rPr>
              <a:t> with the following features:</a:t>
            </a:r>
          </a:p>
          <a:p>
            <a:pPr lvl="0" eaLnBrk="0" fontAlgn="base" hangingPunct="0">
              <a:spcBef>
                <a:spcPct val="0"/>
              </a:spcBef>
              <a:spcAft>
                <a:spcPct val="0"/>
              </a:spcAft>
            </a:pPr>
            <a:endParaRPr lang="en-US" sz="3200" dirty="0">
              <a:latin typeface="Times New Roman" panose="02020603050405020304" pitchFamily="18" charset="0"/>
              <a:cs typeface="Times New Roman" panose="02020603050405020304" pitchFamily="18" charset="0"/>
            </a:endParaRPr>
          </a:p>
          <a:p>
            <a:pPr marL="514350" lvl="0" indent="-514350" eaLnBrk="0" fontAlgn="base" hangingPunct="0">
              <a:spcBef>
                <a:spcPct val="0"/>
              </a:spcBef>
              <a:spcAft>
                <a:spcPct val="0"/>
              </a:spcAft>
              <a:buAutoNum type="arabicPeriod"/>
            </a:pPr>
            <a:r>
              <a:rPr lang="en-IN" sz="3200" dirty="0">
                <a:latin typeface="Times New Roman" panose="02020603050405020304" pitchFamily="18" charset="0"/>
                <a:cs typeface="Times New Roman" panose="02020603050405020304" pitchFamily="18" charset="0"/>
              </a:rPr>
              <a:t>Event Details Module:</a:t>
            </a:r>
          </a:p>
          <a:p>
            <a:pPr marL="457200" lvl="0" indent="-457200" eaLnBrk="0" fontAlgn="base" hangingPunct="0">
              <a:spcBef>
                <a:spcPct val="0"/>
              </a:spcBef>
              <a:spcAft>
                <a:spcPct val="0"/>
              </a:spcAf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Displays event name</a:t>
            </a:r>
          </a:p>
          <a:p>
            <a:pPr marL="457200" lvl="0" indent="-4572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Shows department organizing the event</a:t>
            </a:r>
          </a:p>
          <a:p>
            <a:pPr marL="457200" lvl="0" indent="-4572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date and time information</a:t>
            </a:r>
          </a:p>
          <a:p>
            <a:pPr lvl="0" eaLnBrk="0" fontAlgn="base" hangingPunct="0">
              <a:spcBef>
                <a:spcPct val="0"/>
              </a:spcBef>
              <a:spcAft>
                <a:spcPct val="0"/>
              </a:spcAft>
            </a:pPr>
            <a:endParaRPr lang="en-US" sz="32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IN" sz="3200" dirty="0">
                <a:latin typeface="Times New Roman" panose="02020603050405020304" pitchFamily="18" charset="0"/>
                <a:cs typeface="Times New Roman" panose="02020603050405020304" pitchFamily="18" charset="0"/>
              </a:rPr>
              <a:t>2. Ticket Booking Module</a:t>
            </a:r>
          </a:p>
          <a:p>
            <a:pPr marL="457200" lvl="0" indent="-4572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Validates user inputs before submission</a:t>
            </a:r>
          </a:p>
          <a:p>
            <a:pPr marL="342900" lvl="0" indent="-3429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Prevents booking more tickets than available</a:t>
            </a:r>
          </a:p>
          <a:p>
            <a:pPr marL="342900" lvl="0" indent="-342900" eaLnBrk="0" fontAlgn="base" hangingPunct="0">
              <a:spcBef>
                <a:spcPct val="0"/>
              </a:spcBef>
              <a:spcAft>
                <a:spcPct val="0"/>
              </a:spcAf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confirmation message upon successful booking.</a:t>
            </a:r>
          </a:p>
          <a:p>
            <a:pPr marL="342900" lvl="0" indent="-342900" eaLnBrk="0" fontAlgn="base" hangingPunct="0">
              <a:spcBef>
                <a:spcPct val="0"/>
              </a:spcBef>
              <a:spcAft>
                <a:spcPct val="0"/>
              </a:spcAft>
              <a:buFont typeface="Arial" panose="020B0604020202020204" pitchFamily="34" charset="0"/>
              <a:buChar char="•"/>
            </a:pPr>
            <a:endParaRPr lang="en-US" sz="3200" dirty="0"/>
          </a:p>
          <a:p>
            <a:pPr marL="342900" lvl="0" indent="-342900" eaLnBrk="0" fontAlgn="base" hangingPunct="0">
              <a:spcBef>
                <a:spcPct val="0"/>
              </a:spcBef>
              <a:spcAft>
                <a:spcPct val="0"/>
              </a:spcAft>
              <a:buFont typeface="Arial" panose="020B0604020202020204" pitchFamily="34" charset="0"/>
              <a:buChar char="•"/>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9981209" y="1714500"/>
            <a:ext cx="7278091" cy="7848302"/>
          </a:xfrm>
          <a:prstGeom prst="rect">
            <a:avLst/>
          </a:prstGeom>
          <a:noFill/>
        </p:spPr>
        <p:txBody>
          <a:bodyPr wrap="square" rtlCol="0">
            <a:spAutoFit/>
          </a:bodyPr>
          <a:lstStyle/>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input stage involves all the data provided by users and administrators. Users enter details such as registration information (name, email, phone number), login credentials, event selection, seat preferences, and payment details. </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Processing: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 this stage, the system handles and validates the input data. When a user logs in, the system verifies credentials. </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Database: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database acts as the central storage unit of the application. It stores user information, login credentials, event details, seat availability, booking records, and transaction history.</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output stage presents the results of processing to the users and admin. For users, this includes displaying available events, booking confirmations, digital tickets with QR codes, and payment status messages.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D8D87C0-939A-B215-CF0D-CAF15E9566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485900"/>
            <a:ext cx="6781800" cy="6813988"/>
          </a:xfrm>
          <a:prstGeom prst="rect">
            <a:avLst/>
          </a:prstGeom>
        </p:spPr>
      </p:pic>
      <p:sp>
        <p:nvSpPr>
          <p:cNvPr id="32" name="TextBox 31">
            <a:extLst>
              <a:ext uri="{FF2B5EF4-FFF2-40B4-BE49-F238E27FC236}">
                <a16:creationId xmlns:a16="http://schemas.microsoft.com/office/drawing/2014/main" id="{523F5E45-5157-F5EE-B49D-D03981E1EF65}"/>
              </a:ext>
            </a:extLst>
          </p:cNvPr>
          <p:cNvSpPr txBox="1"/>
          <p:nvPr/>
        </p:nvSpPr>
        <p:spPr>
          <a:xfrm>
            <a:off x="2819400" y="8277880"/>
            <a:ext cx="6096000" cy="523220"/>
          </a:xfrm>
          <a:prstGeom prst="rect">
            <a:avLst/>
          </a:prstGeom>
          <a:noFill/>
        </p:spPr>
        <p:txBody>
          <a:bodyPr wrap="square" rtlCol="0">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System Architecture</a:t>
            </a:r>
            <a:endParaRPr lang="en-IN" sz="2800" b="1" dirty="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1421686" y="1638300"/>
            <a:ext cx="5870439" cy="735586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Admin Login page in the Ticket Booking Web Application for Technical Fest acts as the secure entry point for the system administrator.</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designed with a clean and modern interface, divided into two main sections to improve usability and visual appeal.</a:t>
            </a:r>
            <a:endParaRPr lang="en-US" sz="2400" b="1" dirty="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6432229-0594-969B-16DE-5F145C3D9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1982349"/>
            <a:ext cx="8678486" cy="5753903"/>
          </a:xfrm>
          <a:prstGeom prst="rect">
            <a:avLst/>
          </a:prstGeom>
        </p:spPr>
      </p:pic>
      <p:sp>
        <p:nvSpPr>
          <p:cNvPr id="5" name="TextBox 4">
            <a:extLst>
              <a:ext uri="{FF2B5EF4-FFF2-40B4-BE49-F238E27FC236}">
                <a16:creationId xmlns:a16="http://schemas.microsoft.com/office/drawing/2014/main" id="{EA85AFAB-407D-54D1-4E51-917F5CD8C497}"/>
              </a:ext>
            </a:extLst>
          </p:cNvPr>
          <p:cNvSpPr txBox="1"/>
          <p:nvPr/>
        </p:nvSpPr>
        <p:spPr>
          <a:xfrm>
            <a:off x="3429000" y="8271535"/>
            <a:ext cx="6019800" cy="584775"/>
          </a:xfrm>
          <a:prstGeom prst="rect">
            <a:avLst/>
          </a:prstGeom>
          <a:noFill/>
        </p:spPr>
        <p:txBody>
          <a:bodyPr wrap="square" rtlCol="0">
            <a:spAutoFit/>
          </a:bodyPr>
          <a:lstStyle/>
          <a:p>
            <a:pPr algn="ctr"/>
            <a:r>
              <a:rPr lang="en-US" sz="3200" b="1" dirty="0" err="1">
                <a:solidFill>
                  <a:srgbClr val="0033CC"/>
                </a:solidFill>
                <a:latin typeface="Times New Roman" panose="02020603050405020304" pitchFamily="18" charset="0"/>
                <a:cs typeface="Times New Roman" panose="02020603050405020304" pitchFamily="18" charset="0"/>
              </a:rPr>
              <a:t>DataFlow</a:t>
            </a:r>
            <a:r>
              <a:rPr lang="en-US" sz="3200" b="1" dirty="0">
                <a:solidFill>
                  <a:srgbClr val="0033CC"/>
                </a:solidFill>
                <a:latin typeface="Times New Roman" panose="02020603050405020304" pitchFamily="18" charset="0"/>
                <a:cs typeface="Times New Roman" panose="02020603050405020304" pitchFamily="18" charset="0"/>
              </a:rPr>
              <a:t> Diagram</a:t>
            </a:r>
            <a:endParaRPr lang="en-IN" sz="3200" b="1" dirty="0">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775795B8-27A5-193E-FD7A-7244BA616493}"/>
              </a:ext>
            </a:extLst>
          </p:cNvPr>
          <p:cNvSpPr>
            <a:spLocks noChangeArrowheads="1"/>
          </p:cNvSpPr>
          <p:nvPr/>
        </p:nvSpPr>
        <p:spPr bwMode="auto">
          <a:xfrm rot="10800000" flipV="1">
            <a:off x="1981200" y="2700221"/>
            <a:ext cx="1537298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sz="3200" b="1" dirty="0">
                <a:latin typeface="Times New Roman" panose="02020603050405020304" pitchFamily="18" charset="0"/>
                <a:cs typeface="Times New Roman" panose="02020603050405020304" pitchFamily="18" charset="0"/>
              </a:rPr>
              <a:t>Frontend:</a:t>
            </a:r>
            <a:r>
              <a:rPr lang="en-US" sz="3200" dirty="0">
                <a:latin typeface="Times New Roman" panose="02020603050405020304" pitchFamily="18" charset="0"/>
                <a:cs typeface="Times New Roman" panose="02020603050405020304" pitchFamily="18" charset="0"/>
              </a:rPr>
              <a:t> React JS, HTML, CSS, JavaScript (for designing interactive user interface).</a:t>
            </a:r>
          </a:p>
          <a:p>
            <a:pPr lvl="0" eaLnBrk="0" fontAlgn="base" hangingPunct="0">
              <a:spcBef>
                <a:spcPct val="0"/>
              </a:spcBef>
              <a:spcAft>
                <a:spcPct val="0"/>
              </a:spcAft>
              <a:buFontTx/>
              <a:buChar char="•"/>
            </a:pPr>
            <a:r>
              <a:rPr lang="en-US" sz="3200" b="1" dirty="0"/>
              <a:t>IDE/Tools:</a:t>
            </a:r>
            <a:r>
              <a:rPr lang="en-US" sz="3200" dirty="0"/>
              <a:t> Visual Studio Code / IntelliJ IDEA / Eclipse for development.</a:t>
            </a:r>
          </a:p>
          <a:p>
            <a:pPr lvl="0" eaLnBrk="0" fontAlgn="base" hangingPunct="0">
              <a:spcBef>
                <a:spcPct val="0"/>
              </a:spcBef>
              <a:spcAft>
                <a:spcPct val="0"/>
              </a:spcAft>
              <a:buFontTx/>
              <a:buChar char="•"/>
            </a:pPr>
            <a:r>
              <a:rPr lang="en-US" sz="3200" b="1" dirty="0"/>
              <a:t>Package Manager:</a:t>
            </a:r>
            <a:r>
              <a:rPr lang="en-US" sz="3200" dirty="0"/>
              <a:t> Node.js &amp; </a:t>
            </a:r>
            <a:r>
              <a:rPr lang="en-US" sz="3200" dirty="0" err="1"/>
              <a:t>npm</a:t>
            </a:r>
            <a:r>
              <a:rPr lang="en-US" sz="3200" dirty="0"/>
              <a:t> (for installing dependencies and running the application).</a:t>
            </a:r>
          </a:p>
          <a:p>
            <a:pPr lvl="0" eaLnBrk="0" fontAlgn="base" hangingPunct="0">
              <a:spcBef>
                <a:spcPct val="0"/>
              </a:spcBef>
              <a:spcAft>
                <a:spcPct val="0"/>
              </a:spcAft>
              <a:buFontTx/>
              <a:buChar char="•"/>
            </a:pPr>
            <a:r>
              <a:rPr lang="en-US" sz="3200" b="1" dirty="0"/>
              <a:t>Server:</a:t>
            </a:r>
            <a:r>
              <a:rPr lang="en-US" sz="3200" dirty="0"/>
              <a:t> React Development Server (localhost) for running the application in browser.</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3108543"/>
          </a:xfrm>
          <a:prstGeom prst="rect">
            <a:avLst/>
          </a:prstGeom>
          <a:noFill/>
        </p:spPr>
        <p:txBody>
          <a:bodyPr wrap="square" rtlCol="0">
            <a:spAutoFit/>
          </a:bodyPr>
          <a:lstStyle/>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
        <p:nvSpPr>
          <p:cNvPr id="2" name="Rectangle 1">
            <a:extLst>
              <a:ext uri="{FF2B5EF4-FFF2-40B4-BE49-F238E27FC236}">
                <a16:creationId xmlns:a16="http://schemas.microsoft.com/office/drawing/2014/main" id="{F18DACD3-F6F6-266E-6EE3-F84F38C384DD}"/>
              </a:ext>
            </a:extLst>
          </p:cNvPr>
          <p:cNvSpPr>
            <a:spLocks noChangeArrowheads="1"/>
          </p:cNvSpPr>
          <p:nvPr/>
        </p:nvSpPr>
        <p:spPr bwMode="auto">
          <a:xfrm>
            <a:off x="1670022" y="2935854"/>
            <a:ext cx="1610275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IN" sz="3200" b="1" dirty="0"/>
              <a:t>Event Details Module: </a:t>
            </a:r>
            <a:r>
              <a:rPr lang="en-US" sz="3200" dirty="0"/>
              <a:t>Displays all information related to the event.</a:t>
            </a:r>
          </a:p>
          <a:p>
            <a:pPr marL="457200" lvl="0" indent="-457200" eaLnBrk="0" fontAlgn="base" hangingPunct="0">
              <a:spcBef>
                <a:spcPct val="0"/>
              </a:spcBef>
              <a:spcAft>
                <a:spcPct val="0"/>
              </a:spcAft>
              <a:buFont typeface="Arial" panose="020B0604020202020204" pitchFamily="34" charset="0"/>
              <a:buChar char="•"/>
            </a:pPr>
            <a:r>
              <a:rPr lang="en-IN" sz="3200" b="1" dirty="0"/>
              <a:t>Ticket Booking Module:</a:t>
            </a:r>
            <a:r>
              <a:rPr lang="en-US" sz="3200" dirty="0"/>
              <a:t>Provides a form for users to book tickets and handles form submission and processes booking.</a:t>
            </a:r>
          </a:p>
          <a:p>
            <a:pPr marL="457200" lvl="0" indent="-457200" eaLnBrk="0" fontAlgn="base" hangingPunct="0">
              <a:spcBef>
                <a:spcPct val="0"/>
              </a:spcBef>
              <a:spcAft>
                <a:spcPct val="0"/>
              </a:spcAft>
              <a:buFont typeface="Arial" panose="020B0604020202020204" pitchFamily="34" charset="0"/>
              <a:buChar char="•"/>
            </a:pPr>
            <a:r>
              <a:rPr lang="en-IN" sz="3200" b="1" dirty="0"/>
              <a:t>Validation Module:</a:t>
            </a:r>
            <a:r>
              <a:rPr lang="en-US" sz="3200" dirty="0"/>
              <a:t>Ensures correctness of user inputs and </a:t>
            </a:r>
            <a:r>
              <a:rPr lang="en-IN" sz="3200" dirty="0"/>
              <a:t>displays error messages for invalid inputs.</a:t>
            </a:r>
            <a:endParaRPr lang="en-US" sz="3200" b="1" dirty="0"/>
          </a:p>
          <a:p>
            <a:pPr marL="457200" lvl="0" indent="-457200" eaLnBrk="0" fontAlgn="base" hangingPunct="0">
              <a:spcBef>
                <a:spcPct val="0"/>
              </a:spcBef>
              <a:spcAft>
                <a:spcPct val="0"/>
              </a:spcAft>
              <a:buFont typeface="Arial" panose="020B0604020202020204" pitchFamily="34" charset="0"/>
              <a:buChar char="•"/>
            </a:pPr>
            <a:r>
              <a:rPr lang="en-IN" sz="3200" b="1" dirty="0"/>
              <a:t>Booking Confirmation Module:</a:t>
            </a:r>
            <a:r>
              <a:rPr lang="en-US" sz="3200" dirty="0"/>
              <a:t>Displays success message after booking and improves user satisfaction with clear feedback.</a:t>
            </a:r>
          </a:p>
          <a:p>
            <a:pPr marL="457200" lvl="0" indent="-457200" eaLnBrk="0" fontAlgn="base" hangingPunct="0">
              <a:spcBef>
                <a:spcPct val="0"/>
              </a:spcBef>
              <a:spcAft>
                <a:spcPct val="0"/>
              </a:spcAft>
              <a:buFont typeface="Arial" panose="020B0604020202020204" pitchFamily="34" charset="0"/>
              <a:buChar char="•"/>
            </a:pPr>
            <a:r>
              <a:rPr lang="en-IN" sz="3200" b="1" dirty="0"/>
              <a:t>Ticket Management Module:</a:t>
            </a:r>
            <a:r>
              <a:rPr lang="en-US" sz="3200" dirty="0"/>
              <a:t>Updates ticket count after each successful booking</a:t>
            </a:r>
            <a:endParaRPr lang="en-US" sz="32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35924"/>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2115800" y="1638300"/>
            <a:ext cx="5297022"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FE2EE20F-DE5E-CF73-4246-CE46ADEC4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0356" y="1929068"/>
            <a:ext cx="9357022" cy="6324600"/>
          </a:xfrm>
          <a:prstGeom prst="rect">
            <a:avLst/>
          </a:prstGeom>
        </p:spPr>
      </p:pic>
      <p:sp>
        <p:nvSpPr>
          <p:cNvPr id="5" name="TextBox 4">
            <a:extLst>
              <a:ext uri="{FF2B5EF4-FFF2-40B4-BE49-F238E27FC236}">
                <a16:creationId xmlns:a16="http://schemas.microsoft.com/office/drawing/2014/main" id="{C999530A-B7F1-F13C-6C90-7CE63A3133D7}"/>
              </a:ext>
            </a:extLst>
          </p:cNvPr>
          <p:cNvSpPr txBox="1"/>
          <p:nvPr/>
        </p:nvSpPr>
        <p:spPr>
          <a:xfrm>
            <a:off x="12115800" y="1866900"/>
            <a:ext cx="5486400" cy="5693866"/>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Home Page of the Ticket Booking Web Application for Technical Fest is the main entry point for users and provides an overview of the entire system.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designed to be visually appealing, simple, and easy to navigate so that users can quickly understand and access different features.</a:t>
            </a:r>
          </a:p>
          <a:p>
            <a:br>
              <a:rPr lang="en-US" sz="2800" dirty="0"/>
            </a:b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99A7E0C-CB4F-809F-775A-A3295FB87CAF}"/>
              </a:ext>
            </a:extLst>
          </p:cNvPr>
          <p:cNvSpPr txBox="1"/>
          <p:nvPr/>
        </p:nvSpPr>
        <p:spPr>
          <a:xfrm>
            <a:off x="3276600" y="8514975"/>
            <a:ext cx="6738693" cy="523220"/>
          </a:xfrm>
          <a:prstGeom prst="rect">
            <a:avLst/>
          </a:prstGeom>
          <a:noFill/>
        </p:spPr>
        <p:txBody>
          <a:bodyPr wrap="square" rtlCol="0">
            <a:spAutoFit/>
          </a:bodyPr>
          <a:lstStyle/>
          <a:p>
            <a:pPr algn="ctr"/>
            <a:r>
              <a:rPr lang="en-IN" sz="2800" b="1" dirty="0">
                <a:solidFill>
                  <a:srgbClr val="0033CC"/>
                </a:solidFill>
                <a:latin typeface="Times New Roman" panose="02020603050405020304" pitchFamily="18" charset="0"/>
                <a:cs typeface="Times New Roman" panose="02020603050405020304" pitchFamily="18" charset="0"/>
              </a:rPr>
              <a:t>Home Page</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977075" y="2347875"/>
            <a:ext cx="113485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532EFD51-2B11-E737-5CA8-D6024226D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6277" y="1866900"/>
            <a:ext cx="7906644" cy="6174841"/>
          </a:xfrm>
          <a:prstGeom prst="rect">
            <a:avLst/>
          </a:prstGeom>
        </p:spPr>
      </p:pic>
      <p:pic>
        <p:nvPicPr>
          <p:cNvPr id="6" name="Picture 5">
            <a:extLst>
              <a:ext uri="{FF2B5EF4-FFF2-40B4-BE49-F238E27FC236}">
                <a16:creationId xmlns:a16="http://schemas.microsoft.com/office/drawing/2014/main" id="{EA5AE84D-87E2-298F-61C7-D78F3ABF8E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28996" y="1866900"/>
            <a:ext cx="6983826" cy="6174841"/>
          </a:xfrm>
          <a:prstGeom prst="rect">
            <a:avLst/>
          </a:prstGeom>
        </p:spPr>
      </p:pic>
      <p:sp>
        <p:nvSpPr>
          <p:cNvPr id="39" name="TextBox 38">
            <a:extLst>
              <a:ext uri="{FF2B5EF4-FFF2-40B4-BE49-F238E27FC236}">
                <a16:creationId xmlns:a16="http://schemas.microsoft.com/office/drawing/2014/main" id="{40BF7735-BFDB-A526-47D9-F787CDCDEC34}"/>
              </a:ext>
            </a:extLst>
          </p:cNvPr>
          <p:cNvSpPr txBox="1"/>
          <p:nvPr/>
        </p:nvSpPr>
        <p:spPr>
          <a:xfrm>
            <a:off x="3913599" y="8261106"/>
            <a:ext cx="4572000" cy="523220"/>
          </a:xfrm>
          <a:prstGeom prst="rect">
            <a:avLst/>
          </a:prstGeom>
          <a:noFill/>
        </p:spPr>
        <p:txBody>
          <a:bodyPr wrap="square" rtlCol="0">
            <a:spAutoFit/>
          </a:bodyPr>
          <a:lstStyle/>
          <a:p>
            <a:pPr algn="ctr"/>
            <a:r>
              <a:rPr lang="en-IN" sz="2800" b="1" dirty="0">
                <a:solidFill>
                  <a:srgbClr val="0033CC"/>
                </a:solidFill>
                <a:latin typeface="Times New Roman" panose="02020603050405020304" pitchFamily="18" charset="0"/>
                <a:cs typeface="Times New Roman" panose="02020603050405020304" pitchFamily="18" charset="0"/>
              </a:rPr>
              <a:t>Admin Page</a:t>
            </a:r>
          </a:p>
        </p:txBody>
      </p:sp>
      <p:sp>
        <p:nvSpPr>
          <p:cNvPr id="40" name="TextBox 39">
            <a:extLst>
              <a:ext uri="{FF2B5EF4-FFF2-40B4-BE49-F238E27FC236}">
                <a16:creationId xmlns:a16="http://schemas.microsoft.com/office/drawing/2014/main" id="{C4BC9A40-1FD7-FDC4-CF2A-1DD22AAA431C}"/>
              </a:ext>
            </a:extLst>
          </p:cNvPr>
          <p:cNvSpPr txBox="1"/>
          <p:nvPr/>
        </p:nvSpPr>
        <p:spPr>
          <a:xfrm>
            <a:off x="11658762" y="8227972"/>
            <a:ext cx="3809838" cy="523220"/>
          </a:xfrm>
          <a:prstGeom prst="rect">
            <a:avLst/>
          </a:prstGeom>
          <a:noFill/>
        </p:spPr>
        <p:txBody>
          <a:bodyPr wrap="square" rtlCol="0">
            <a:spAutoFit/>
          </a:bodyPr>
          <a:lstStyle/>
          <a:p>
            <a:pPr algn="ctr"/>
            <a:r>
              <a:rPr lang="en-IN" sz="2800" b="1" dirty="0">
                <a:solidFill>
                  <a:srgbClr val="0033CC"/>
                </a:solidFill>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1E0510-B476-3180-B45E-1418465745C4}"/>
              </a:ext>
            </a:extLst>
          </p:cNvPr>
          <p:cNvSpPr txBox="1"/>
          <p:nvPr/>
        </p:nvSpPr>
        <p:spPr>
          <a:xfrm>
            <a:off x="3124200" y="571500"/>
            <a:ext cx="12039600" cy="830997"/>
          </a:xfrm>
          <a:prstGeom prst="rect">
            <a:avLst/>
          </a:prstGeom>
          <a:noFill/>
        </p:spPr>
        <p:txBody>
          <a:bodyPr wrap="square">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31C7E34-B383-B73E-7536-00278FDA3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866900"/>
            <a:ext cx="10134600" cy="6019800"/>
          </a:xfrm>
          <a:prstGeom prst="rect">
            <a:avLst/>
          </a:prstGeom>
        </p:spPr>
      </p:pic>
      <p:sp>
        <p:nvSpPr>
          <p:cNvPr id="9" name="TextBox 8">
            <a:extLst>
              <a:ext uri="{FF2B5EF4-FFF2-40B4-BE49-F238E27FC236}">
                <a16:creationId xmlns:a16="http://schemas.microsoft.com/office/drawing/2014/main" id="{D1DFBF3E-F88C-C595-815B-270537B9880C}"/>
              </a:ext>
            </a:extLst>
          </p:cNvPr>
          <p:cNvSpPr txBox="1"/>
          <p:nvPr/>
        </p:nvSpPr>
        <p:spPr>
          <a:xfrm>
            <a:off x="12115800" y="1866900"/>
            <a:ext cx="5486400" cy="5693866"/>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Home Page of the Ticket Booking Web Application for Technical Fest is the main entry point for users and provides an overview of the entire system.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designed to be visually appealing, simple, and easy to navigate so that users can quickly understand and access different features.</a:t>
            </a:r>
          </a:p>
          <a:p>
            <a:br>
              <a:rPr lang="en-US" sz="2800" dirty="0"/>
            </a:b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B6C0C4C-EB7B-521C-3C38-484D22B92244}"/>
              </a:ext>
            </a:extLst>
          </p:cNvPr>
          <p:cNvSpPr txBox="1"/>
          <p:nvPr/>
        </p:nvSpPr>
        <p:spPr>
          <a:xfrm>
            <a:off x="2667000" y="8158490"/>
            <a:ext cx="7010400" cy="523220"/>
          </a:xfrm>
          <a:prstGeom prst="rect">
            <a:avLst/>
          </a:prstGeom>
          <a:noFill/>
        </p:spPr>
        <p:txBody>
          <a:bodyPr wrap="square" rtlCol="0">
            <a:spAutoFit/>
          </a:bodyPr>
          <a:lstStyle/>
          <a:p>
            <a:pPr algn="ctr"/>
            <a:r>
              <a:rPr lang="en-IN" sz="2800" b="1" dirty="0">
                <a:solidFill>
                  <a:srgbClr val="0033CC"/>
                </a:solidFill>
                <a:latin typeface="Times New Roman" panose="02020603050405020304" pitchFamily="18" charset="0"/>
                <a:cs typeface="Times New Roman" panose="02020603050405020304" pitchFamily="18" charset="0"/>
              </a:rPr>
              <a:t>Module 1 - </a:t>
            </a:r>
            <a:r>
              <a:rPr lang="en-IN" sz="2800" b="1" dirty="0"/>
              <a:t>Event Details</a:t>
            </a:r>
            <a:endParaRPr lang="en-IN" sz="28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34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BCE61-FBDA-8639-DC8D-7DE99579D5EF}"/>
              </a:ext>
            </a:extLst>
          </p:cNvPr>
          <p:cNvSpPr txBox="1"/>
          <p:nvPr/>
        </p:nvSpPr>
        <p:spPr>
          <a:xfrm>
            <a:off x="3124200" y="571500"/>
            <a:ext cx="12039600" cy="830997"/>
          </a:xfrm>
          <a:prstGeom prst="rect">
            <a:avLst/>
          </a:prstGeom>
          <a:noFill/>
        </p:spPr>
        <p:txBody>
          <a:bodyPr wrap="square">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86A7727-305C-AAAE-3D98-8CA5155712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500187"/>
            <a:ext cx="9477375" cy="6081713"/>
          </a:xfrm>
          <a:prstGeom prst="rect">
            <a:avLst/>
          </a:prstGeom>
        </p:spPr>
      </p:pic>
      <p:sp>
        <p:nvSpPr>
          <p:cNvPr id="6" name="TextBox 5">
            <a:extLst>
              <a:ext uri="{FF2B5EF4-FFF2-40B4-BE49-F238E27FC236}">
                <a16:creationId xmlns:a16="http://schemas.microsoft.com/office/drawing/2014/main" id="{82CF7615-D0E9-E62C-0605-84A2705070B1}"/>
              </a:ext>
            </a:extLst>
          </p:cNvPr>
          <p:cNvSpPr txBox="1"/>
          <p:nvPr/>
        </p:nvSpPr>
        <p:spPr>
          <a:xfrm>
            <a:off x="2833687" y="7962900"/>
            <a:ext cx="7315200" cy="523220"/>
          </a:xfrm>
          <a:prstGeom prst="rect">
            <a:avLst/>
          </a:prstGeom>
          <a:noFill/>
        </p:spPr>
        <p:txBody>
          <a:bodyPr wrap="square">
            <a:spAutoFit/>
          </a:bodyPr>
          <a:lstStyle/>
          <a:p>
            <a:pPr algn="ctr"/>
            <a:r>
              <a:rPr lang="en-IN" sz="2800" b="1" dirty="0">
                <a:solidFill>
                  <a:srgbClr val="0033CC"/>
                </a:solidFill>
                <a:latin typeface="Times New Roman" panose="02020603050405020304" pitchFamily="18" charset="0"/>
                <a:cs typeface="Times New Roman" panose="02020603050405020304" pitchFamily="18" charset="0"/>
              </a:rPr>
              <a:t>Module 2 - </a:t>
            </a:r>
            <a:r>
              <a:rPr lang="en-IN" sz="2800" b="1" dirty="0"/>
              <a:t>Ticket Booking</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2CF031B-5FF8-B700-1EC0-EDC1C1927E2B}"/>
              </a:ext>
            </a:extLst>
          </p:cNvPr>
          <p:cNvSpPr txBox="1"/>
          <p:nvPr/>
        </p:nvSpPr>
        <p:spPr>
          <a:xfrm>
            <a:off x="12115800" y="2628900"/>
            <a:ext cx="5334000" cy="4401205"/>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Booking Page in the Ticket Booking Web Application for Technical Fest is where users select and confirm their tickets for a chosen event.</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designed to be clear and interactive so users can complete the booking process without confusion</a:t>
            </a:r>
            <a:r>
              <a:rPr lang="en-US" dirty="0"/>
              <a:t>.</a:t>
            </a:r>
            <a:endParaRPr lang="en-IN" sz="28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79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5A307D-F49F-A6C0-F5BF-F1120546569E}"/>
              </a:ext>
            </a:extLst>
          </p:cNvPr>
          <p:cNvSpPr txBox="1"/>
          <p:nvPr/>
        </p:nvSpPr>
        <p:spPr>
          <a:xfrm>
            <a:off x="3124200" y="571500"/>
            <a:ext cx="12039600" cy="830997"/>
          </a:xfrm>
          <a:prstGeom prst="rect">
            <a:avLst/>
          </a:prstGeom>
          <a:noFill/>
        </p:spPr>
        <p:txBody>
          <a:bodyPr wrap="square">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858010-65C0-99B1-BEFF-19C289F2491F}"/>
              </a:ext>
            </a:extLst>
          </p:cNvPr>
          <p:cNvSpPr txBox="1"/>
          <p:nvPr/>
        </p:nvSpPr>
        <p:spPr>
          <a:xfrm>
            <a:off x="1600200" y="7970103"/>
            <a:ext cx="9906000"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Innovative Module</a:t>
            </a:r>
            <a:endParaRPr lang="en-IN" sz="2800" b="1" dirty="0">
              <a:solidFill>
                <a:srgbClr val="0033CC"/>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912CA34-C960-88E3-C7D0-C7408F8740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627239"/>
            <a:ext cx="9601200" cy="6331803"/>
          </a:xfrm>
          <a:prstGeom prst="rect">
            <a:avLst/>
          </a:prstGeom>
        </p:spPr>
      </p:pic>
      <p:sp>
        <p:nvSpPr>
          <p:cNvPr id="9" name="TextBox 8">
            <a:extLst>
              <a:ext uri="{FF2B5EF4-FFF2-40B4-BE49-F238E27FC236}">
                <a16:creationId xmlns:a16="http://schemas.microsoft.com/office/drawing/2014/main" id="{1030FC8D-2817-7806-6DDD-E9F7F7EA3BD1}"/>
              </a:ext>
            </a:extLst>
          </p:cNvPr>
          <p:cNvSpPr txBox="1"/>
          <p:nvPr/>
        </p:nvSpPr>
        <p:spPr>
          <a:xfrm>
            <a:off x="12268200" y="2327958"/>
            <a:ext cx="5257800" cy="5570756"/>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Secure Checkout module is an innovative feature added to the Ticket Booking Web Application for Technical Fest to ensure safe, reliable, and fraud-free payment processing.</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module enhances user trust by protecting sensitive information and providing a smooth payment experience.</a:t>
            </a:r>
          </a:p>
          <a:p>
            <a:pPr algn="ctr"/>
            <a:endParaRPr lang="en-IN" sz="48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014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87C7BB-6FC9-6733-A86B-615F2924CCDD}"/>
              </a:ext>
            </a:extLst>
          </p:cNvPr>
          <p:cNvSpPr txBox="1"/>
          <p:nvPr/>
        </p:nvSpPr>
        <p:spPr>
          <a:xfrm>
            <a:off x="3124200" y="571500"/>
            <a:ext cx="12039600" cy="830997"/>
          </a:xfrm>
          <a:prstGeom prst="rect">
            <a:avLst/>
          </a:prstGeom>
          <a:noFill/>
        </p:spPr>
        <p:txBody>
          <a:bodyPr wrap="square">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6316EE-9F7D-60DD-FD51-4C1FE84A3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5800" y="2095500"/>
            <a:ext cx="10439400" cy="5486400"/>
          </a:xfrm>
          <a:prstGeom prst="rect">
            <a:avLst/>
          </a:prstGeom>
        </p:spPr>
      </p:pic>
      <p:sp>
        <p:nvSpPr>
          <p:cNvPr id="5" name="TextBox 4">
            <a:extLst>
              <a:ext uri="{FF2B5EF4-FFF2-40B4-BE49-F238E27FC236}">
                <a16:creationId xmlns:a16="http://schemas.microsoft.com/office/drawing/2014/main" id="{243E1D03-BF96-9CCA-EA57-5CD6C42BD745}"/>
              </a:ext>
            </a:extLst>
          </p:cNvPr>
          <p:cNvSpPr txBox="1"/>
          <p:nvPr/>
        </p:nvSpPr>
        <p:spPr>
          <a:xfrm>
            <a:off x="7848600" y="7868334"/>
            <a:ext cx="3048000" cy="646331"/>
          </a:xfrm>
          <a:prstGeom prst="rect">
            <a:avLst/>
          </a:prstGeom>
          <a:noFill/>
        </p:spPr>
        <p:txBody>
          <a:bodyPr wrap="square">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Database</a:t>
            </a:r>
            <a:endParaRPr lang="en-IN" sz="36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9408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FFB4174-C3FB-D212-96D2-A79C5D8F3D50}"/>
              </a:ext>
            </a:extLst>
          </p:cNvPr>
          <p:cNvSpPr txBox="1"/>
          <p:nvPr/>
        </p:nvSpPr>
        <p:spPr>
          <a:xfrm>
            <a:off x="1728051" y="1909375"/>
            <a:ext cx="14768517" cy="6278642"/>
          </a:xfrm>
          <a:prstGeom prst="rect">
            <a:avLst/>
          </a:prstGeom>
          <a:noFill/>
        </p:spPr>
        <p:txBody>
          <a:bodyPr wrap="square">
            <a:spAutoFit/>
          </a:bodyPr>
          <a:lstStyle/>
          <a:p>
            <a:pPr>
              <a:buNone/>
            </a:pPr>
            <a:r>
              <a:rPr lang="en-US" sz="3200" b="1" dirty="0"/>
              <a:t>Advantages:</a:t>
            </a:r>
          </a:p>
          <a:p>
            <a:pPr marL="342900" indent="-342900">
              <a:buFont typeface="+mj-lt"/>
              <a:buAutoNum type="arabicPeriod"/>
            </a:pPr>
            <a:r>
              <a:rPr lang="en-US" sz="3200" dirty="0"/>
              <a:t>Easy and quick ticket booking process.</a:t>
            </a:r>
          </a:p>
          <a:p>
            <a:pPr marL="342900" indent="-342900">
              <a:buFont typeface="+mj-lt"/>
              <a:buAutoNum type="arabicPeriod"/>
            </a:pPr>
            <a:r>
              <a:rPr lang="en-US" sz="3200" dirty="0"/>
              <a:t>Real-time update of ticket availability.</a:t>
            </a:r>
          </a:p>
          <a:p>
            <a:pPr marL="342900" indent="-342900">
              <a:buFont typeface="+mj-lt"/>
              <a:buAutoNum type="arabicPeriod"/>
            </a:pPr>
            <a:r>
              <a:rPr lang="en-IN" sz="3200" dirty="0"/>
              <a:t>Prevents overbooking errors.</a:t>
            </a:r>
          </a:p>
          <a:p>
            <a:pPr marL="342900" indent="-342900">
              <a:buFont typeface="+mj-lt"/>
              <a:buAutoNum type="arabicPeriod"/>
            </a:pPr>
            <a:r>
              <a:rPr lang="en-US" sz="3200" dirty="0"/>
              <a:t>Efficient data handling using React state.</a:t>
            </a:r>
          </a:p>
          <a:p>
            <a:pPr marL="342900" indent="-342900">
              <a:buFont typeface="+mj-lt"/>
              <a:buAutoNum type="arabicPeriod"/>
            </a:pPr>
            <a:r>
              <a:rPr lang="en-US" sz="3200" dirty="0"/>
              <a:t>Reduces manual work and paperwork</a:t>
            </a:r>
          </a:p>
          <a:p>
            <a:r>
              <a:rPr lang="en-US" sz="3200" b="1" dirty="0"/>
              <a:t>Limitations:</a:t>
            </a:r>
          </a:p>
          <a:p>
            <a:pPr marL="342900" indent="-342900">
              <a:buFont typeface="+mj-lt"/>
              <a:buAutoNum type="arabicPeriod"/>
            </a:pPr>
            <a:r>
              <a:rPr lang="en-US" sz="3200" dirty="0"/>
              <a:t>No backend/database (data is not stored permanently).</a:t>
            </a:r>
          </a:p>
          <a:p>
            <a:pPr marL="342900" indent="-342900">
              <a:buFont typeface="+mj-lt"/>
              <a:buAutoNum type="arabicPeriod"/>
            </a:pPr>
            <a:r>
              <a:rPr lang="en-US" sz="3200" dirty="0"/>
              <a:t> Refreshing the page resets ticket data.</a:t>
            </a:r>
          </a:p>
          <a:p>
            <a:pPr marL="342900" indent="-342900">
              <a:buFont typeface="+mj-lt"/>
              <a:buAutoNum type="arabicPeriod"/>
            </a:pPr>
            <a:r>
              <a:rPr lang="en-US" sz="3200" dirty="0"/>
              <a:t>Limited to single event (can be extended for multiple events).</a:t>
            </a:r>
          </a:p>
          <a:p>
            <a:pPr marL="342900" indent="-342900">
              <a:buFont typeface="+mj-lt"/>
              <a:buAutoNum type="arabicPeriod"/>
            </a:pPr>
            <a:r>
              <a:rPr lang="en-US" sz="3200" dirty="0"/>
              <a:t>No authentication or user login system.</a:t>
            </a:r>
          </a:p>
          <a:p>
            <a:pPr marL="342900" indent="-342900">
              <a:buFont typeface="+mj-lt"/>
              <a:buAutoNum type="arabicPeriod"/>
            </a:pPr>
            <a:r>
              <a:rPr lang="en-US" sz="3200" dirty="0"/>
              <a:t>Cannot handle high traffic or concurrent users in current form.</a:t>
            </a:r>
          </a:p>
          <a:p>
            <a:r>
              <a:rPr lang="en-US" dirty="0"/>
              <a:t> </a:t>
            </a:r>
          </a:p>
        </p:txBody>
      </p:sp>
    </p:spTree>
    <p:extLst>
      <p:ext uri="{BB962C8B-B14F-4D97-AF65-F5344CB8AC3E}">
        <p14:creationId xmlns:p14="http://schemas.microsoft.com/office/powerpoint/2010/main" val="183897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TotalTime>
  <Words>1176</Words>
  <Application>Microsoft Office PowerPoint</Application>
  <PresentationFormat>Custom</PresentationFormat>
  <Paragraphs>300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Cambria</vt:lpstr>
      <vt:lpstr>Arial</vt:lpstr>
      <vt:lpstr>Gotham</vt:lpstr>
      <vt:lpstr>Gotham Bold Italics</vt:lpstr>
      <vt:lpstr>Times New Roman</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Navya S</dc:creator>
  <cp:lastModifiedBy>RAMBABU VOLLEPU</cp:lastModifiedBy>
  <cp:revision>15</cp:revision>
  <dcterms:created xsi:type="dcterms:W3CDTF">2006-08-16T00:00:00Z</dcterms:created>
  <dcterms:modified xsi:type="dcterms:W3CDTF">2026-05-05T18:16:33Z</dcterms:modified>
  <dc:identifier>DAHCaYqJ9OU</dc:identifier>
</cp:coreProperties>
</file>